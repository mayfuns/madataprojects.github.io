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Current employees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employees by department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Sales</c:v>
                  </c:pt>
                  <c:pt idx="2">
                    <c:v>Human Resources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835</c:v>
                </c:pt>
                <c:pt idx="1">
                  <c:v>356</c:v>
                </c:pt>
                <c:pt idx="2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Current vs. Attrition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4040"/>
              </a:solidFill>
              <a:effectLst/>
            </c:spPr>
          </c:dPt>
          <c:dPt>
            <c:idx val="1"/>
            <c:bubble3D val="0"/>
            <c:spPr>
              <a:solidFill>
                <a:srgbClr val="F2A67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Current employees</c:v>
                </c:pt>
                <c:pt idx="1">
                  <c:v>Employees 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1242</c:v>
                </c:pt>
                <c:pt idx="1">
                  <c:v>243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count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 by department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Sales</c:v>
                  </c:pt>
                  <c:pt idx="2">
                    <c:v>Human Resources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</c:v>
                </c:pt>
                <c:pt idx="1">
                  <c:v>92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rate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department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Human Resources</c:v>
                  </c:pt>
                  <c:pt idx="2">
                    <c:v>R&amp;D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0.20535714285714285</c:v>
                </c:pt>
                <c:pt idx="1">
                  <c:v>0.19047619047619047</c:v>
                </c:pt>
                <c:pt idx="2">
                  <c:v>0.14271047227926079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Top job-role attrition rates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job-role attrition rates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 Rep</c:v>
                  </c:pt>
                  <c:pt idx="1">
                    <c:v>Lab Technician</c:v>
                  </c:pt>
                  <c:pt idx="2">
                    <c:v>Human Resources</c:v>
                  </c:pt>
                  <c:pt idx="3">
                    <c:v>Sales Executive</c:v>
                  </c:pt>
                  <c:pt idx="4">
                    <c:v>Research Sci.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0.39759036144578314</c:v>
                </c:pt>
                <c:pt idx="1">
                  <c:v>0.2480916030534351</c:v>
                </c:pt>
                <c:pt idx="2">
                  <c:v>0.23076923076923078</c:v>
                </c:pt>
                <c:pt idx="3">
                  <c:v>0.17378048780487804</c:v>
                </c:pt>
                <c:pt idx="4">
                  <c:v>0.1694915254237288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Top education-field attrition rates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education-field attrition rates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Technical</c:v>
                  </c:pt>
                  <c:pt idx="1">
                    <c:v>HR</c:v>
                  </c:pt>
                  <c:pt idx="2">
                    <c:v>Marketing</c:v>
                  </c:pt>
                  <c:pt idx="3">
                    <c:v>Life Sciences</c:v>
                  </c:pt>
                  <c:pt idx="4">
                    <c:v>Medical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0.25925925925925924</c:v>
                </c:pt>
                <c:pt idx="1">
                  <c:v>0.25925925925925924</c:v>
                </c:pt>
                <c:pt idx="2">
                  <c:v>0.21739130434782608</c:v>
                </c:pt>
                <c:pt idx="3">
                  <c:v>0.14518760195758565</c:v>
                </c:pt>
                <c:pt idx="4">
                  <c:v>0.14132762312633834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rate by years at company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years at company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 years</c:v>
                  </c:pt>
                  <c:pt idx="1">
                    <c:v>1-2 years</c:v>
                  </c:pt>
                  <c:pt idx="2">
                    <c:v>3-5 years</c:v>
                  </c:pt>
                  <c:pt idx="3">
                    <c:v>6-10 years</c:v>
                  </c:pt>
                  <c:pt idx="4">
                    <c:v>11+ years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0.36363636363636365</c:v>
                </c:pt>
                <c:pt idx="1">
                  <c:v>0.2956810631229236</c:v>
                </c:pt>
                <c:pt idx="2">
                  <c:v>0.1382488479262673</c:v>
                </c:pt>
                <c:pt idx="3">
                  <c:v>0.1280353200883002</c:v>
                </c:pt>
                <c:pt idx="4">
                  <c:v>0.07905138339920949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rate by years in current role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years in current role</c:v>
                </c:pt>
              </c:strCache>
            </c:strRef>
          </c:tx>
          <c:spPr>
            <a:solidFill>
              <a:srgbClr val="F2A679"/>
            </a:solidFill>
            <a:ln w="25400" cap="flat">
              <a:solidFill>
                <a:srgbClr val="F2A6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679"/>
              </a:solidFill>
              <a:ln w="9525" cap="flat">
                <a:solidFill>
                  <a:srgbClr val="F2A6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0.29918032786885246</c:v>
                </c:pt>
                <c:pt idx="1">
                  <c:v>0.19298245614035087</c:v>
                </c:pt>
                <c:pt idx="2">
                  <c:v>0.18933333333333333</c:v>
                </c:pt>
                <c:pt idx="3">
                  <c:v>0.11851851851851852</c:v>
                </c:pt>
                <c:pt idx="4">
                  <c:v>0.14423076923076922</c:v>
                </c:pt>
                <c:pt idx="5">
                  <c:v>0.027777777777777776</c:v>
                </c:pt>
                <c:pt idx="6">
                  <c:v>0.05</c:v>
                </c:pt>
                <c:pt idx="7">
                  <c:v>0.13716814159292035</c:v>
                </c:pt>
                <c:pt idx="8">
                  <c:v>0.07865168539325842</c:v>
                </c:pt>
                <c:pt idx="9">
                  <c:v>0.12857142857142856</c:v>
                </c:pt>
                <c:pt idx="10">
                  <c:v>0.06896551724137931</c:v>
                </c:pt>
                <c:pt idx="11">
                  <c:v>0</c:v>
                </c:pt>
                <c:pt idx="12">
                  <c:v>0.08333333333333333</c:v>
                </c:pt>
                <c:pt idx="13">
                  <c:v>0.07142857142857142</c:v>
                </c:pt>
                <c:pt idx="14">
                  <c:v>0.09090909090909091</c:v>
                </c:pt>
                <c:pt idx="15">
                  <c:v>0.25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rate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age group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&lt;25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0.3917525773195876</c:v>
                </c:pt>
                <c:pt idx="1">
                  <c:v>0.20216606498194944</c:v>
                </c:pt>
                <c:pt idx="2">
                  <c:v>0.100990099009901</c:v>
                </c:pt>
                <c:pt idx="3">
                  <c:v>0.10204081632653061</c:v>
                </c:pt>
                <c:pt idx="4">
                  <c:v>0.15942028985507245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rate by overtime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overtime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Yes</c:v>
                  </c:pt>
                  <c:pt idx="1">
                    <c:v>No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0.31026252983293556</c:v>
                </c:pt>
                <c:pt idx="1">
                  <c:v>0.10600375234521577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04040"/>
                </a:solidFill>
                <a:latin typeface="Calibri"/>
              </a:rPr>
              <a:t>Attrition rate by travel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travel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</c:v>
                  </c:pt>
                  <c:pt idx="1">
                    <c:v>Rarely</c:v>
                  </c:pt>
                  <c:pt idx="2">
                    <c:v>None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0.2490974729241877</c:v>
                </c:pt>
                <c:pt idx="1">
                  <c:v>0.1534090909090909</c:v>
                </c:pt>
                <c:pt idx="2">
                  <c:v>0.07894736842105263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Average survey scores by attrition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F2A6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Environment</c:v>
                  </c:pt>
                  <c:pt idx="1">
                    <c:v>Job</c:v>
                  </c:pt>
                  <c:pt idx="2">
                    <c:v>Relationship</c:v>
                  </c:pt>
                  <c:pt idx="3">
                    <c:v>Work-Life</c:v>
                  </c:pt>
                  <c:pt idx="4">
                    <c:v>Involvement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2.4650205761316872</c:v>
                </c:pt>
                <c:pt idx="1">
                  <c:v>2.493827160493827</c:v>
                </c:pt>
                <c:pt idx="2">
                  <c:v>2.6090534979423867</c:v>
                </c:pt>
                <c:pt idx="3">
                  <c:v>2.654320987654321</c:v>
                </c:pt>
                <c:pt idx="4">
                  <c:v>2.5308641975308643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Environment</c:v>
                  </c:pt>
                  <c:pt idx="1">
                    <c:v>Job</c:v>
                  </c:pt>
                  <c:pt idx="2">
                    <c:v>Relationship</c:v>
                  </c:pt>
                  <c:pt idx="3">
                    <c:v>Work-Life</c:v>
                  </c:pt>
                  <c:pt idx="4">
                    <c:v>Involvement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2.7665056360708533</c:v>
                </c:pt>
                <c:pt idx="1">
                  <c:v>2.7785829307568437</c:v>
                </c:pt>
                <c:pt idx="2">
                  <c:v>2.7294685990338166</c:v>
                </c:pt>
                <c:pt idx="3">
                  <c:v>2.7785829307568437</c:v>
                </c:pt>
                <c:pt idx="4">
                  <c:v>2.7689210950080514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13232"/>
            <a:ext cx="0" cy="5394960"/>
          </a:xfrm>
          <a:prstGeom prst="line">
            <a:avLst/>
          </a:prstGeom>
          <a:noFill/>
          <a:ln w="38100">
            <a:solidFill>
              <a:srgbClr val="F2A6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" y="9601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Solutions Inc.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9264" y="153619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Attrition &amp; Performance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87552" y="26151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Excel portfolio presentation: from workforce demographics to HR retention recommendations.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87552" y="43434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analysed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43434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77840" y="43434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7552" y="5833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Mariam Adetoyi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6144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Power BI | SQL | Excel | Tableau</a:t>
            </a:r>
            <a:endParaRPr lang="en-US" sz="1050" dirty="0"/>
          </a:p>
        </p:txBody>
      </p:sp>
      <p:pic>
        <p:nvPicPr>
          <p:cNvPr id="14" name="Image 0" descr="/mnt/data/hr_analysis_report/HR_Analytics_Dashboard_up.png">    </p:cNvPr>
          <p:cNvPicPr>
            <a:picLocks noChangeAspect="1"/>
          </p:cNvPicPr>
          <p:nvPr/>
        </p:nvPicPr>
        <p:blipFill>
          <a:blip r:embed="rId1"/>
          <a:srcRect l="6944" r="6944" t="0" b="0"/>
          <a:stretch/>
        </p:blipFill>
        <p:spPr>
          <a:xfrm>
            <a:off x="8549640" y="1188720"/>
            <a:ext cx="28346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concentrated in specific groups - not evenly distributed across the workforce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54680" y="1554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15468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department rate: Sales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1554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7220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role rate: Sales Rep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23544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2354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among overtime staff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9077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033272" y="2907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has the largest number of leavers, but Sales has the higher attrition rate - so volume and risk should be interpreted separately.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777240" y="34381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1033272" y="343814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employees are the clearest retention risk: 0 years and 1-2 years at company show the highest attrition rates.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777240" y="39684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1033272" y="39684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a major warning signal: employees doing overtime leave at roughly three times the rate of non-overtime employees.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777240" y="4498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033272" y="44988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had lower average satisfaction and lower average monthly income than those who stayed.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HR leaders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852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 should be targeted by department, role, tenure, overtime exposure and employee experience - not treated as a single organisation-wide issue.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project aim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needed a clearer view of workforce risk and retention drivers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1371600" cy="29260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987552" y="19202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may reduce productivity, continuity and organisational performance.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987552" y="240487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trends were not clearly understood across department, role, demographics and tenure.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731520" y="28895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scores and employee experience needed to be connected to turnover patterns.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731520" y="33741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987552" y="33741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needed a dashboard story to support evidence-based decisions.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6400800" y="1481328"/>
            <a:ext cx="1143000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656832" y="1920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associated with attrition.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400800" y="2404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6656832" y="24048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workforce demographics and current employees.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6400800" y="28895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6656832" y="28895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attrition patterns across job role, gender, age, education and tenure.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6400800" y="33741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656832" y="33741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HR recommendations using Tableau storytelling.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lens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543153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separates attrition count from attrition rate. This is important because a large group can produce more leavers simply because it has more employees, while a smaller group may carry a higher proportional risk.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employee base before interpreting attrition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5087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92240" y="1600200"/>
          <a:ext cx="2743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9555480" y="1673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snapshot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555480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1,242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955548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employees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555480" y="3291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55548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724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7240" y="557784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is the largest department, so it naturally contributes the highest number of leavers. Rate-based analysis is needed before treating it as the highest retention-risk area.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attrition: count vs rate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number of leavers is not the same as the highest risk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17320"/>
          <a:ext cx="5166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00800" y="1417320"/>
          <a:ext cx="5166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49808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808" y="548640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recorded the largest attrition count (139 leavers), but Sales has the highest attrition rate at 20.5%. This means HR should prioritise Sales for proportional retention risk while still monitoring R&amp;D because of its workforce size.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education risk areas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job roles and education fields show materially higher turnover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44752"/>
          <a:ext cx="52578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00800" y="1444752"/>
          <a:ext cx="52578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5166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8" name="Text 4"/>
          <p:cNvSpPr/>
          <p:nvPr/>
        </p:nvSpPr>
        <p:spPr>
          <a:xfrm>
            <a:off x="1033272" y="51663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 has the highest role attrition rate (39.8%), despite being a smaller population than Sales Executive or Laboratory Technician.</a:t>
            </a:r>
            <a:endParaRPr lang="en-US" sz="1320" dirty="0"/>
          </a:p>
        </p:txBody>
      </p:sp>
      <p:sp>
        <p:nvSpPr>
          <p:cNvPr id="9" name="Text 5"/>
          <p:cNvSpPr/>
          <p:nvPr/>
        </p:nvSpPr>
        <p:spPr>
          <a:xfrm>
            <a:off x="777240" y="55595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1033272" y="55595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 contributes the highest number of leavers (65), making it important from a workforce planning perspective.</a:t>
            </a:r>
            <a:endParaRPr lang="en-US" sz="1320" dirty="0"/>
          </a:p>
        </p:txBody>
      </p:sp>
      <p:sp>
        <p:nvSpPr>
          <p:cNvPr id="11" name="Text 7"/>
          <p:cNvSpPr/>
          <p:nvPr/>
        </p:nvSpPr>
        <p:spPr>
          <a:xfrm>
            <a:off x="777240" y="59527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2" name="Text 8"/>
          <p:cNvSpPr/>
          <p:nvPr/>
        </p:nvSpPr>
        <p:spPr>
          <a:xfrm>
            <a:off x="1033272" y="595274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Degree, Human Resources and Marketing education fields show higher attrition rates than Life Sciences, Medical and Other fields.</a:t>
            </a:r>
            <a:endParaRPr lang="en-US" sz="1320" dirty="0"/>
          </a:p>
        </p:txBody>
      </p:sp>
      <p:sp>
        <p:nvSpPr>
          <p:cNvPr id="13" name="Text 9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risk: attrition is highest early in the employee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retention opportunity is within onboarding and early-role support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17320"/>
          <a:ext cx="5303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92240" y="1417320"/>
          <a:ext cx="50749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552297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0 years at company have an attrition rate of 36.4%, while those with 1-2 years are at 29.6%. This suggests the first stage of employment is a critical retention period.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and workload signals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and overtime workers show elevated attrition risk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1417320"/>
          <a:ext cx="37490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26280" y="1417320"/>
          <a:ext cx="3108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7909560" y="1417320"/>
          <a:ext cx="36118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749808" y="50749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9" name="Text 4"/>
          <p:cNvSpPr/>
          <p:nvPr/>
        </p:nvSpPr>
        <p:spPr>
          <a:xfrm>
            <a:off x="1005840" y="5074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under 25 have a high attrition rate of 39.2%; the 25-34 group is also above average at 20.2%.</a:t>
            </a:r>
            <a:endParaRPr lang="en-US" sz="1320" dirty="0"/>
          </a:p>
        </p:txBody>
      </p:sp>
      <p:sp>
        <p:nvSpPr>
          <p:cNvPr id="10" name="Text 5"/>
          <p:cNvSpPr/>
          <p:nvPr/>
        </p:nvSpPr>
        <p:spPr>
          <a:xfrm>
            <a:off x="749808" y="54589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1" name="Text 6"/>
          <p:cNvSpPr/>
          <p:nvPr/>
        </p:nvSpPr>
        <p:spPr>
          <a:xfrm>
            <a:off x="1005840" y="5458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show 31.0% attrition compared with 10.6% among non-overtime workers.</a:t>
            </a:r>
            <a:endParaRPr lang="en-US" sz="1320" dirty="0"/>
          </a:p>
        </p:txBody>
      </p:sp>
      <p:sp>
        <p:nvSpPr>
          <p:cNvPr id="12" name="Text 7"/>
          <p:cNvSpPr/>
          <p:nvPr/>
        </p:nvSpPr>
        <p:spPr>
          <a:xfrm>
            <a:off x="749808" y="5843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20" dirty="0"/>
          </a:p>
        </p:txBody>
      </p:sp>
      <p:sp>
        <p:nvSpPr>
          <p:cNvPr id="13" name="Text 8"/>
          <p:cNvSpPr/>
          <p:nvPr/>
        </p:nvSpPr>
        <p:spPr>
          <a:xfrm>
            <a:off x="1005840" y="584301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travellers show higher attrition (24.9%) than rare or non-travellers.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experience: satisfaction and pay signals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score lower on key satisfaction measures and have lower average income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17320"/>
          <a:ext cx="5715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2084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£4,757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72084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 - leavers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0" y="1508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£6,872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14400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 - stayed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72084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distance from home - leavers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0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distance from home - stayed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4279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720840" y="4782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total working years - leavers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0" y="4279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144000" y="4782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total working years - stayed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Lower satisfaction, lower income and shorter career tenure are associated with attrition in this dataset. These should be treated as risk signals, not proof of direct causation.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Story: how to present the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workforce context to attrition risk, then recommendations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pic>
        <p:nvPicPr>
          <p:cNvPr id="5" name="Image 0" descr="/mnt/data/hr_analysis_report/HR_Analytics_Dashboard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89888"/>
            <a:ext cx="397764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463040"/>
            <a:ext cx="2743200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STORY FLOW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956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6656832" y="19568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Workforce overview and KPIs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6400800" y="23408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6656832" y="23408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Department count vs rate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6400800" y="27249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6656832" y="27249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Job-role and education risk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6400800" y="31089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6656832" y="3108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Tenure, age, overtime and travel signals</a:t>
            </a:r>
            <a:endParaRPr lang="en-US" sz="1340" dirty="0"/>
          </a:p>
        </p:txBody>
      </p:sp>
      <p:sp>
        <p:nvSpPr>
          <p:cNvPr id="15" name="Text 12"/>
          <p:cNvSpPr/>
          <p:nvPr/>
        </p:nvSpPr>
        <p:spPr>
          <a:xfrm>
            <a:off x="6400800" y="34930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6656832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Survey score comparison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640080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40" dirty="0"/>
          </a:p>
        </p:txBody>
      </p:sp>
      <p:sp>
        <p:nvSpPr>
          <p:cNvPr id="18" name="Text 15"/>
          <p:cNvSpPr/>
          <p:nvPr/>
        </p:nvSpPr>
        <p:spPr>
          <a:xfrm>
            <a:off x="6656832" y="3877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HR recommendations and next steps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6400800" y="4709160"/>
            <a:ext cx="2194560" cy="29260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0" y="5166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saying only “R&amp;D has the highest attrition.” Say: “R&amp;D has the highest count, but Sales has the highest rate.” This sounds more analytical and shows you understand denominator effects.</a:t>
            </a:r>
            <a:endParaRPr lang="en-US" sz="134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Talent-Pulse HR leadership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27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 into targeted retention action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11109960" cy="0"/>
          </a:xfrm>
          <a:prstGeom prst="line">
            <a:avLst/>
          </a:prstGeom>
          <a:noFill/>
          <a:ln w="15240">
            <a:solidFill>
              <a:srgbClr val="F2A6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384048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1872" y="1426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Sales retention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4343400" y="1426464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has the highest departmental attrition rate. Review sales targets, workload, management support, incentives and progression.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early-tenure support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4343400" y="228600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within 0-2 years suggests onboarding, role expectation and manager check-in improvements could reduce early exits.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384048" cy="38404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61872" y="31455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overtime pressure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343400" y="3145536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show a much higher attrition rate. Monitor overtime frequency and workload distribution by team and role.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4005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role-specific interventions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4343400" y="4005072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and Laboratory Technicians need different retention responses because one carries higher rate risk and the other higher volume impact.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731520" y="4882896"/>
            <a:ext cx="384048" cy="384048"/>
          </a:xfrm>
          <a:prstGeom prst="rect">
            <a:avLst/>
          </a:prstGeom>
          <a:solidFill>
            <a:srgbClr val="F2A6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4864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survey scores as warning indicators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343400" y="486460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satisfaction and work-life balance by team, role and tenure to identify risk before employees leave.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77240" y="5961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59618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attrition rate, early-tenure exits, overtime exposure, survey score movement and role-level leaver count monthly.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Workforce Analysis  |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would present this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talk track for interview or portfolio presentation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777240" y="1856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77640" y="185623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Talent-Pulse had high attrition but needed to know where the risk was concentrated and which factors were linked with leavers.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777240" y="2889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28895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the employee dataset to calculate attrition counts, attrition rates, employee demographics, tenure patterns and survey-score comparisons.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777240" y="3922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key insight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77640" y="392277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finding is that attrition should not be judged by count alone. Sales has the highest department rate, while R&amp;D has the largest number of leavers.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777240" y="4956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49560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recommendations focus on early-tenure support, overtime monitoring, role-specific retention and survey-score tracking.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777240" y="6080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line: “This project shows my ability to move from raw workforce data to clear HR insight and practical recommendations.”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Portfolio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Talent-Pulse Workforce Attrition Analysis - Workbook Colours</dc:title>
  <dc:subject>Talent-Pulse Workforce Attrition Analysis</dc:subject>
  <dc:creator>Mariam Adetoyi</dc:creator>
  <cp:lastModifiedBy>Mariam Adetoyi</cp:lastModifiedBy>
  <cp:revision>1</cp:revision>
  <dcterms:created xsi:type="dcterms:W3CDTF">2026-08-11T15:46:02Z</dcterms:created>
  <dcterms:modified xsi:type="dcterms:W3CDTF">2026-08-11T15:46:02Z</dcterms:modified>
</cp:coreProperties>
</file>